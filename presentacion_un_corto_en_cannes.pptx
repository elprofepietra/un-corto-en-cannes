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" name="Shape 1"/>
          <p:cNvSpPr/>
          <p:nvPr/>
        </p:nvSpPr>
        <p:spPr>
          <a:xfrm>
            <a:off x="62330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9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9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6" name="Shape 4"/>
          <p:cNvSpPr/>
          <p:nvPr/>
        </p:nvSpPr>
        <p:spPr>
          <a:xfrm>
            <a:off x="217774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7" name="Shape 5"/>
          <p:cNvSpPr/>
          <p:nvPr/>
        </p:nvSpPr>
        <p:spPr>
          <a:xfrm>
            <a:off x="269589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8" name="Shape 6"/>
          <p:cNvSpPr/>
          <p:nvPr/>
        </p:nvSpPr>
        <p:spPr>
          <a:xfrm>
            <a:off x="321403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9" name="Shape 7"/>
          <p:cNvSpPr/>
          <p:nvPr/>
        </p:nvSpPr>
        <p:spPr>
          <a:xfrm>
            <a:off x="373218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033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6847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2" name="Shape 10"/>
          <p:cNvSpPr/>
          <p:nvPr/>
        </p:nvSpPr>
        <p:spPr>
          <a:xfrm>
            <a:off x="528662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477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291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4106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921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735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550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365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179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4994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809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86238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0438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2253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7" name="Shape 25"/>
          <p:cNvSpPr/>
          <p:nvPr/>
        </p:nvSpPr>
        <p:spPr>
          <a:xfrm>
            <a:off x="62330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1449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9" name="Shape 27"/>
          <p:cNvSpPr/>
          <p:nvPr/>
        </p:nvSpPr>
        <p:spPr>
          <a:xfrm>
            <a:off x="165959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774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589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1403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3" name="Shape 31"/>
          <p:cNvSpPr/>
          <p:nvPr/>
        </p:nvSpPr>
        <p:spPr>
          <a:xfrm>
            <a:off x="373218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4" name="Shape 32"/>
          <p:cNvSpPr/>
          <p:nvPr/>
        </p:nvSpPr>
        <p:spPr>
          <a:xfrm>
            <a:off x="425033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5" name="Shape 33"/>
          <p:cNvSpPr/>
          <p:nvPr/>
        </p:nvSpPr>
        <p:spPr>
          <a:xfrm>
            <a:off x="476847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6" name="Shape 34"/>
          <p:cNvSpPr/>
          <p:nvPr/>
        </p:nvSpPr>
        <p:spPr>
          <a:xfrm>
            <a:off x="528662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7" name="Shape 35"/>
          <p:cNvSpPr/>
          <p:nvPr/>
        </p:nvSpPr>
        <p:spPr>
          <a:xfrm>
            <a:off x="580477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291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106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0" name="Shape 38"/>
          <p:cNvSpPr/>
          <p:nvPr/>
        </p:nvSpPr>
        <p:spPr>
          <a:xfrm>
            <a:off x="735921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1" name="Shape 39"/>
          <p:cNvSpPr/>
          <p:nvPr/>
        </p:nvSpPr>
        <p:spPr>
          <a:xfrm>
            <a:off x="787735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9550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3" name="Shape 41"/>
          <p:cNvSpPr/>
          <p:nvPr/>
        </p:nvSpPr>
        <p:spPr>
          <a:xfrm>
            <a:off x="891365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4" name="Shape 42"/>
          <p:cNvSpPr/>
          <p:nvPr/>
        </p:nvSpPr>
        <p:spPr>
          <a:xfrm>
            <a:off x="943179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5" name="Shape 43"/>
          <p:cNvSpPr/>
          <p:nvPr/>
        </p:nvSpPr>
        <p:spPr>
          <a:xfrm>
            <a:off x="994994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6809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86238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0438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2253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EJERCITACIÓN · GERENCIAMIENTO DE PROYECTOS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Corto en Cannes</a:t>
            </a:r>
            <a:endParaRPr lang="en-US" sz="5400" dirty="0"/>
          </a:p>
        </p:txBody>
      </p:sp>
      <p:sp>
        <p:nvSpPr>
          <p:cNvPr id="52" name="Text 50"/>
          <p:cNvSpPr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guiada: Project Charter, Scope, WBS, listado de actividades,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red y diagrama de Gantt (alcance sin costos)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9966960" y="4480560"/>
            <a:ext cx="1737360" cy="1234440"/>
          </a:xfrm>
          <a:prstGeom prst="roundRect">
            <a:avLst>
              <a:gd name="adj" fmla="val 4444"/>
            </a:avLst>
          </a:prstGeom>
          <a:solidFill>
            <a:srgbClr val="232130"/>
          </a:solidFill>
          <a:ln w="15875">
            <a:solidFill>
              <a:srgbClr val="C9A4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360000">
            <a:off x="9966960" y="4279392"/>
            <a:ext cx="1737360" cy="256032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55" name="Shape 53"/>
          <p:cNvSpPr/>
          <p:nvPr/>
        </p:nvSpPr>
        <p:spPr>
          <a:xfrm rot="-360000">
            <a:off x="9948672" y="4206240"/>
            <a:ext cx="164592" cy="365760"/>
          </a:xfrm>
          <a:prstGeom prst="rect">
            <a:avLst/>
          </a:prstGeom>
          <a:solidFill>
            <a:srgbClr val="17161C"/>
          </a:solidFill>
          <a:ln/>
        </p:spPr>
      </p:sp>
      <p:sp>
        <p:nvSpPr>
          <p:cNvPr id="56" name="Shape 54"/>
          <p:cNvSpPr/>
          <p:nvPr/>
        </p:nvSpPr>
        <p:spPr>
          <a:xfrm rot="-360000">
            <a:off x="10314432" y="4206240"/>
            <a:ext cx="16459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 rot="-360000">
            <a:off x="10680192" y="4206240"/>
            <a:ext cx="164592" cy="365760"/>
          </a:xfrm>
          <a:prstGeom prst="rect">
            <a:avLst/>
          </a:prstGeom>
          <a:solidFill>
            <a:srgbClr val="17161C"/>
          </a:solidFill>
          <a:ln/>
        </p:spPr>
      </p:sp>
      <p:sp>
        <p:nvSpPr>
          <p:cNvPr id="58" name="Shape 56"/>
          <p:cNvSpPr/>
          <p:nvPr/>
        </p:nvSpPr>
        <p:spPr>
          <a:xfrm rot="-360000">
            <a:off x="11045952" y="4206240"/>
            <a:ext cx="16459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 rot="-360000">
            <a:off x="11411712" y="4206240"/>
            <a:ext cx="164592" cy="365760"/>
          </a:xfrm>
          <a:prstGeom prst="rect">
            <a:avLst/>
          </a:prstGeom>
          <a:solidFill>
            <a:srgbClr val="17161C"/>
          </a:solidFill>
          <a:ln/>
        </p:spPr>
      </p:sp>
      <p:sp>
        <p:nvSpPr>
          <p:cNvPr id="60" name="Text 58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UADE — FACO · DEGES  |  Docente: Lic. Ornela Palombo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en una mirada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716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727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5727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el cortometraje que abre el Festival de Cannes de mayo de 2026.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17161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23957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Narrar la historia del cine de forma innovadora, desde sus orígenes hasta la actualidad.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2186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producto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321868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final no mayor a 20 minutos.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384048" cy="38404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0416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404164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debe estar listo a fines de abril de 2026.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384048" cy="384048"/>
          </a:xfrm>
          <a:prstGeom prst="ellipse">
            <a:avLst/>
          </a:prstGeom>
          <a:solidFill>
            <a:srgbClr val="17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8646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48646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Rodaje con Croma-Key: requiere locación con fondo verde y camarines.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760720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F5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7881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entregables identificados por el equipo: Pre-Producción (locación, elenco, recursos materiales), Producción (catering, rodaje) y Post-Producción (edición y tráiler).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PROJECT CHARTER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Acta de constitución del proyecto (I)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E2E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82296" cy="141732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un cortometraje de hasta 20 minutos que narre la historia del cine de forma innovadora, para la apertura del Festival de Cannes 2026.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06440" y="1508760"/>
            <a:ext cx="5897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E2E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1508760"/>
            <a:ext cx="82296" cy="14173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163677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final del proyecto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9659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originales de las escenas del rodaje, más dos copias debidamente resguardadas.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E2E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63240"/>
            <a:ext cx="82296" cy="1691640"/>
          </a:xfrm>
          <a:prstGeom prst="rect">
            <a:avLst/>
          </a:prstGeom>
          <a:solidFill>
            <a:srgbClr val="17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912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Duración del corto: máximo 20 minutos.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Plazo: material listo a fines de abril de 2026.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Técnica Croma-Key: exige locación con fondo verde.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063240"/>
            <a:ext cx="5897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E2E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3063240"/>
            <a:ext cx="82296" cy="1691640"/>
          </a:xfrm>
          <a:prstGeom prst="rect">
            <a:avLst/>
          </a:prstGeom>
          <a:solidFill>
            <a:srgbClr val="17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319125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520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 proyecto inicia la primera semana de enero de 2026.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 contratarán 20 actores.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post-producción queda a cargo de un proveedor contratado directamente por la productora.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102870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2EA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892040"/>
            <a:ext cx="82296" cy="1051560"/>
          </a:xfrm>
          <a:prstGeom prst="rect">
            <a:avLst/>
          </a:prstGeom>
          <a:solidFill>
            <a:srgbClr val="C9A44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20056"/>
            <a:ext cx="9829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productora fue contratada para abrir el festival con una pieza audiovisual propia: una oportunidad de posicionamiento ante la industria internacional del cine.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Project Charter (I)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PROJECT CHARTER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Acta de constitución del proyecto (II)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 clave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Productora (sponsor)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920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87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arte y dirección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4871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487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y equipo técnico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5409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305409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17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05409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de Cannes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principales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1874520"/>
            <a:ext cx="384048" cy="38404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189280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Locación acondicionada y disponible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2258568"/>
            <a:ext cx="384048" cy="38404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227685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contratado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2642616"/>
            <a:ext cx="384048" cy="38404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266090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materiales dispuestos en locación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06440" y="3026664"/>
            <a:ext cx="384048" cy="38404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304495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contratado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06440" y="3410712"/>
            <a:ext cx="384048" cy="38404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1" name="Text 29"/>
          <p:cNvSpPr/>
          <p:nvPr/>
        </p:nvSpPr>
        <p:spPr>
          <a:xfrm>
            <a:off x="580644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55080" y="3429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+ 2 copias de resguardo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10287000" cy="1965960"/>
          </a:xfrm>
          <a:prstGeom prst="roundRect">
            <a:avLst>
              <a:gd name="adj" fmla="val 3721"/>
            </a:avLst>
          </a:prstGeom>
          <a:solidFill>
            <a:srgbClr val="17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160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iniciales de alto nivel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4572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45720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encontrar una locación con las características técnicas requeridas (fondo verde, 8 camarines).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49560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956048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el proceso de audición: es la actividad más larga y, como se verá, crítica.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53400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3000" y="5340096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un proveedor de catering de calidad dentro del presupuesto previsto.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Project Charter (II)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SCOPE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Exclusiones del 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0287000" cy="1051560"/>
          </a:xfrm>
          <a:prstGeom prst="roundRect">
            <a:avLst>
              <a:gd name="adj" fmla="val 6957"/>
            </a:avLst>
          </a:prstGeom>
          <a:solidFill>
            <a:srgbClr val="9E1B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EXPLÍCITA DEL CASO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post-producción (edición del material y desarrollo del tráiler teaser) queda fuera del proyecto: la productora la subcontrata directamente a otra compañía.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Exclusiones adicionales que conviene dejar explícitas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84048" cy="384048"/>
          </a:xfrm>
          <a:prstGeom prst="ellipse">
            <a:avLst/>
          </a:prstGeom>
          <a:solidFill>
            <a:srgbClr val="23213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3649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Distribución, proyección o logística del estreno en el Festival de Cannes.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904488"/>
            <a:ext cx="384048" cy="384048"/>
          </a:xfrm>
          <a:prstGeom prst="ellipse">
            <a:avLst/>
          </a:prstGeom>
          <a:solidFill>
            <a:srgbClr val="23213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guion y definición del contenido histórico del corto (se asumen ya definidos por dirección/guion).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471416"/>
            <a:ext cx="384048" cy="384048"/>
          </a:xfrm>
          <a:prstGeom prst="ellipse">
            <a:avLst/>
          </a:prstGeom>
          <a:solidFill>
            <a:srgbClr val="23213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4988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de locación, equipos y personal (no descriptos como actividad en el caso).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038344"/>
            <a:ext cx="384048" cy="384048"/>
          </a:xfrm>
          <a:prstGeom prst="ellipse">
            <a:avLst/>
          </a:prstGeom>
          <a:solidFill>
            <a:srgbClr val="23213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06577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o procesamiento de las copias de resguardo: el alcance cubre solo su guardado seguro.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Scope Statement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WBS (POSTERIOR A LA FIRMA DEL SCOPE STATEMENT)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desglose del trabajo (WBS)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92040" y="118872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716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188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Un Corto en Cannes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C9A4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9659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Pre-Producción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955280" y="196596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C9A4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659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Producción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627632"/>
            <a:ext cx="-3063240" cy="338328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627632"/>
            <a:ext cx="3063240" cy="338328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700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5B57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Locación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80360" y="26700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5B57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 Actores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57800" y="26700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5B57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 Recursos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0" y="26700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5B57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Catering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12680" y="26700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5B57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 Rodaje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2368296"/>
            <a:ext cx="-1554480" cy="301752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68296"/>
            <a:ext cx="868680" cy="301752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368296"/>
            <a:ext cx="3246120" cy="301752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368296"/>
            <a:ext cx="-274320" cy="301752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2368296"/>
            <a:ext cx="1874520" cy="301752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0156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01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1.1.1.1 Búsqueda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locación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65760" y="3849624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49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1.1.1.2 Alquiler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locación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2514600" y="340156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401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1.1.2.1 Perfiles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2514600" y="3849624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849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1.1.2.2 Audición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514600" y="42976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297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1.1.2.3 Contratación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actores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4709160" y="340156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401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1.1.3.1 Listado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709160" y="3849624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849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1.1.3.2 Búsqueda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709160" y="42976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297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1.1.3.3 Análisis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709160" y="4745736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7457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1.1.3.4 Contratación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4709160" y="5193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51937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1.1.3.5 Envío y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7452360" y="340156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401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1.2.1.1 Búsqueda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452360" y="3849624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3849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1.2.1.2 Análisis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7452360" y="42976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4297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1.2.1.3 Contratación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9646920" y="340156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46920" y="34015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1.2.2.1 Filmación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(Rodaje)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9646920" y="3849624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5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3849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1.2.2.2 Resguardo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entrega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1463040" y="3127248"/>
            <a:ext cx="-137160" cy="274320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6200" y="3127248"/>
            <a:ext cx="-411480" cy="274320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3127248"/>
            <a:ext cx="-594360" cy="274320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9680" y="3127248"/>
            <a:ext cx="-457200" cy="274320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18520" y="3127248"/>
            <a:ext cx="-411480" cy="274320"/>
          </a:xfrm>
          <a:prstGeom prst="line">
            <a:avLst/>
          </a:prstGeom>
          <a:noFill/>
          <a:ln w="15875">
            <a:solidFill>
              <a:srgbClr val="B9B6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3550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Post-Producción no integra el WBS: fue excluida en el Scope Statement.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WBS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LISTA DE ACTIVIDADES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Actividades, duración y precedencias (sin costos)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0287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80760"/>
                <a:gridCol w="146304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Predecesora(s)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de locación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 de locación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de perfiles de actores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Audición de actores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Contratación de actores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de recursos materiales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de proveedores de materiales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alternativas de proveedores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Contratación de proveedores de materiales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y disposición de recursos en locación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I,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de alternativas de catering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propuestas de catering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Contratación del catering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Rodaje (filmación)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J,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1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Resguardo y entrega de material (hito)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355080"/>
            <a:ext cx="146304" cy="146304"/>
          </a:xfrm>
          <a:prstGeom prst="ellipse">
            <a:avLst/>
          </a:prstGeom>
          <a:solidFill>
            <a:srgbClr val="FCEBEC"/>
          </a:solidFill>
          <a:ln w="12700">
            <a:solidFill>
              <a:srgbClr val="9E1B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6263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 = actividades del camino crítico (ver paso 5)   ·   * Contratación del catering: duración no especificada en el caso; se asume 1 semana por analogía con las demás tareas de contratación.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Lista de actividades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DIAGRAMA DE 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precedencias (AON) y camino crítico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55648" y="169164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755648" y="251460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28416" y="251460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55648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28416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01184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55648" y="416052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28416" y="416052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73952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28416" y="1691640"/>
            <a:ext cx="3419856" cy="164592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01184" y="2514600"/>
            <a:ext cx="3419856" cy="82296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01184" y="4160520"/>
            <a:ext cx="3419856" cy="-82296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19488" y="3337560"/>
            <a:ext cx="274320" cy="0"/>
          </a:xfrm>
          <a:prstGeom prst="line">
            <a:avLst/>
          </a:prstGeom>
          <a:noFill/>
          <a:ln w="19050">
            <a:solidFill>
              <a:srgbClr val="AEABB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138988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38988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149047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1389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Búsqueda locación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493776" y="16093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0   Dur 4   EF 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493776" y="179222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4   Holg 4   LF 8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2029968" y="138988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9968" y="138988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2029968" y="149047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27" name="Text 25"/>
          <p:cNvSpPr/>
          <p:nvPr/>
        </p:nvSpPr>
        <p:spPr>
          <a:xfrm>
            <a:off x="2066544" y="138988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Alquiler locación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2066544" y="16093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4   Dur 1   EF 5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2066544" y="179222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8   Holg 4   LF 9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457200" y="221284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21284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9E1B32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2313432"/>
            <a:ext cx="1298448" cy="10058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" y="221284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Perfiles actores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493776" y="24323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0   Dur 3   EF 3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493776" y="261518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0   Holg 0   LF 3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2029968" y="221284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29968" y="221284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9E1B32"/>
          </a:solidFill>
          <a:ln/>
        </p:spPr>
      </p:sp>
      <p:sp>
        <p:nvSpPr>
          <p:cNvPr id="38" name="Shape 36"/>
          <p:cNvSpPr/>
          <p:nvPr/>
        </p:nvSpPr>
        <p:spPr>
          <a:xfrm>
            <a:off x="2029968" y="2313432"/>
            <a:ext cx="1298448" cy="10058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9" name="Text 37"/>
          <p:cNvSpPr/>
          <p:nvPr/>
        </p:nvSpPr>
        <p:spPr>
          <a:xfrm>
            <a:off x="2066544" y="221284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Audición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2066544" y="24323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3   Dur 6   EF 9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2066544" y="261518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3   Holg 0   LF 9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3602736" y="221284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02736" y="221284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9E1B32"/>
          </a:solidFill>
          <a:ln/>
        </p:spPr>
      </p:sp>
      <p:sp>
        <p:nvSpPr>
          <p:cNvPr id="44" name="Shape 42"/>
          <p:cNvSpPr/>
          <p:nvPr/>
        </p:nvSpPr>
        <p:spPr>
          <a:xfrm>
            <a:off x="3602736" y="2313432"/>
            <a:ext cx="1298448" cy="10058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5" name="Text 43"/>
          <p:cNvSpPr/>
          <p:nvPr/>
        </p:nvSpPr>
        <p:spPr>
          <a:xfrm>
            <a:off x="3639312" y="221284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Contratación actores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3639312" y="24323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9   Dur 1   EF 10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3639312" y="261518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9   Holg 0   LF 10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457200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313639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Listado recursos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493776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0   Dur 2   EF 2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493776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1   Holg 1   LF 3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2029968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29968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56" name="Shape 54"/>
          <p:cNvSpPr/>
          <p:nvPr/>
        </p:nvSpPr>
        <p:spPr>
          <a:xfrm>
            <a:off x="2029968" y="313639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57" name="Text 55"/>
          <p:cNvSpPr/>
          <p:nvPr/>
        </p:nvSpPr>
        <p:spPr>
          <a:xfrm>
            <a:off x="2066544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Búsqueda proveedores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2066544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2   Dur 4   EF 6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2066544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3   Holg 1   LF 7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3602736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02736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62" name="Shape 60"/>
          <p:cNvSpPr/>
          <p:nvPr/>
        </p:nvSpPr>
        <p:spPr>
          <a:xfrm>
            <a:off x="3602736" y="313639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63" name="Text 61"/>
          <p:cNvSpPr/>
          <p:nvPr/>
        </p:nvSpPr>
        <p:spPr>
          <a:xfrm>
            <a:off x="3639312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Análisis alternativas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3639312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6   Dur 1   EF 7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639312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7   Holg 1   LF 8</a:t>
            </a:r>
            <a:endParaRPr lang="en-US" sz="730" dirty="0"/>
          </a:p>
        </p:txBody>
      </p:sp>
      <p:sp>
        <p:nvSpPr>
          <p:cNvPr id="66" name="Shape 64"/>
          <p:cNvSpPr/>
          <p:nvPr/>
        </p:nvSpPr>
        <p:spPr>
          <a:xfrm>
            <a:off x="5175504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75504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68" name="Shape 66"/>
          <p:cNvSpPr/>
          <p:nvPr/>
        </p:nvSpPr>
        <p:spPr>
          <a:xfrm>
            <a:off x="5175504" y="313639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0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Contratación proveed.</a:t>
            </a:r>
            <a:endParaRPr lang="en-US" sz="730" dirty="0"/>
          </a:p>
        </p:txBody>
      </p:sp>
      <p:sp>
        <p:nvSpPr>
          <p:cNvPr id="70" name="Text 68"/>
          <p:cNvSpPr/>
          <p:nvPr/>
        </p:nvSpPr>
        <p:spPr>
          <a:xfrm>
            <a:off x="5212080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7   Dur 1   EF 8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5212080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8   Holg 1   LF 9</a:t>
            </a:r>
            <a:endParaRPr lang="en-US" sz="730" dirty="0"/>
          </a:p>
        </p:txBody>
      </p:sp>
      <p:sp>
        <p:nvSpPr>
          <p:cNvPr id="72" name="Shape 70"/>
          <p:cNvSpPr/>
          <p:nvPr/>
        </p:nvSpPr>
        <p:spPr>
          <a:xfrm>
            <a:off x="457200" y="385876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385876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74" name="Shape 72"/>
          <p:cNvSpPr/>
          <p:nvPr/>
        </p:nvSpPr>
        <p:spPr>
          <a:xfrm>
            <a:off x="457200" y="395935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" y="385876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Alternativas catering</a:t>
            </a:r>
            <a:endParaRPr lang="en-US" sz="730" dirty="0"/>
          </a:p>
        </p:txBody>
      </p:sp>
      <p:sp>
        <p:nvSpPr>
          <p:cNvPr id="76" name="Text 74"/>
          <p:cNvSpPr/>
          <p:nvPr/>
        </p:nvSpPr>
        <p:spPr>
          <a:xfrm>
            <a:off x="493776" y="407822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0   Dur 3   EF 3</a:t>
            </a:r>
            <a:endParaRPr lang="en-US" sz="730" dirty="0"/>
          </a:p>
        </p:txBody>
      </p:sp>
      <p:sp>
        <p:nvSpPr>
          <p:cNvPr id="77" name="Text 75"/>
          <p:cNvSpPr/>
          <p:nvPr/>
        </p:nvSpPr>
        <p:spPr>
          <a:xfrm>
            <a:off x="493776" y="42611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4   Holg 4   LF 7</a:t>
            </a:r>
            <a:endParaRPr lang="en-US" sz="730" dirty="0"/>
          </a:p>
        </p:txBody>
      </p:sp>
      <p:sp>
        <p:nvSpPr>
          <p:cNvPr id="78" name="Shape 76"/>
          <p:cNvSpPr/>
          <p:nvPr/>
        </p:nvSpPr>
        <p:spPr>
          <a:xfrm>
            <a:off x="2029968" y="385876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29968" y="385876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80" name="Shape 78"/>
          <p:cNvSpPr/>
          <p:nvPr/>
        </p:nvSpPr>
        <p:spPr>
          <a:xfrm>
            <a:off x="2029968" y="395935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81" name="Text 79"/>
          <p:cNvSpPr/>
          <p:nvPr/>
        </p:nvSpPr>
        <p:spPr>
          <a:xfrm>
            <a:off x="2066544" y="385876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Propuestas catering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2066544" y="407822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3   Dur 2   EF 5</a:t>
            </a:r>
            <a:endParaRPr lang="en-US" sz="730" dirty="0"/>
          </a:p>
        </p:txBody>
      </p:sp>
      <p:sp>
        <p:nvSpPr>
          <p:cNvPr id="83" name="Text 81"/>
          <p:cNvSpPr/>
          <p:nvPr/>
        </p:nvSpPr>
        <p:spPr>
          <a:xfrm>
            <a:off x="2066544" y="42611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7   Holg 4   LF 9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3602736" y="385876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02736" y="385876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86" name="Shape 84"/>
          <p:cNvSpPr/>
          <p:nvPr/>
        </p:nvSpPr>
        <p:spPr>
          <a:xfrm>
            <a:off x="3602736" y="395935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87" name="Text 85"/>
          <p:cNvSpPr/>
          <p:nvPr/>
        </p:nvSpPr>
        <p:spPr>
          <a:xfrm>
            <a:off x="3639312" y="385876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Contratación catering</a:t>
            </a:r>
            <a:endParaRPr lang="en-US" sz="730" dirty="0"/>
          </a:p>
        </p:txBody>
      </p:sp>
      <p:sp>
        <p:nvSpPr>
          <p:cNvPr id="88" name="Text 86"/>
          <p:cNvSpPr/>
          <p:nvPr/>
        </p:nvSpPr>
        <p:spPr>
          <a:xfrm>
            <a:off x="3639312" y="407822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5   Dur 1   EF 6</a:t>
            </a:r>
            <a:endParaRPr lang="en-US" sz="730" dirty="0"/>
          </a:p>
        </p:txBody>
      </p:sp>
      <p:sp>
        <p:nvSpPr>
          <p:cNvPr id="89" name="Text 87"/>
          <p:cNvSpPr/>
          <p:nvPr/>
        </p:nvSpPr>
        <p:spPr>
          <a:xfrm>
            <a:off x="3639312" y="42611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9   Holg 4   LF 10</a:t>
            </a:r>
            <a:endParaRPr lang="en-US" sz="730" dirty="0"/>
          </a:p>
        </p:txBody>
      </p:sp>
      <p:sp>
        <p:nvSpPr>
          <p:cNvPr id="90" name="Shape 88"/>
          <p:cNvSpPr/>
          <p:nvPr/>
        </p:nvSpPr>
        <p:spPr>
          <a:xfrm>
            <a:off x="6748272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48272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44404F"/>
          </a:solidFill>
          <a:ln/>
        </p:spPr>
      </p:sp>
      <p:sp>
        <p:nvSpPr>
          <p:cNvPr id="92" name="Shape 90"/>
          <p:cNvSpPr/>
          <p:nvPr/>
        </p:nvSpPr>
        <p:spPr>
          <a:xfrm>
            <a:off x="6748272" y="3136392"/>
            <a:ext cx="1298448" cy="100584"/>
          </a:xfrm>
          <a:prstGeom prst="rect">
            <a:avLst/>
          </a:prstGeom>
          <a:solidFill>
            <a:srgbClr val="44404F"/>
          </a:solidFill>
          <a:ln/>
        </p:spPr>
      </p:sp>
      <p:sp>
        <p:nvSpPr>
          <p:cNvPr id="93" name="Text 91"/>
          <p:cNvSpPr/>
          <p:nvPr/>
        </p:nvSpPr>
        <p:spPr>
          <a:xfrm>
            <a:off x="6784848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Envío y disposición</a:t>
            </a:r>
            <a:endParaRPr lang="en-US" sz="730" dirty="0"/>
          </a:p>
        </p:txBody>
      </p:sp>
      <p:sp>
        <p:nvSpPr>
          <p:cNvPr id="94" name="Text 92"/>
          <p:cNvSpPr/>
          <p:nvPr/>
        </p:nvSpPr>
        <p:spPr>
          <a:xfrm>
            <a:off x="6784848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8   Dur 1   EF 9</a:t>
            </a:r>
            <a:endParaRPr lang="en-US" sz="730" dirty="0"/>
          </a:p>
        </p:txBody>
      </p:sp>
      <p:sp>
        <p:nvSpPr>
          <p:cNvPr id="95" name="Text 93"/>
          <p:cNvSpPr/>
          <p:nvPr/>
        </p:nvSpPr>
        <p:spPr>
          <a:xfrm>
            <a:off x="6784848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9   Holg 1   LF 10</a:t>
            </a:r>
            <a:endParaRPr lang="en-US" sz="730" dirty="0"/>
          </a:p>
        </p:txBody>
      </p:sp>
      <p:sp>
        <p:nvSpPr>
          <p:cNvPr id="96" name="Shape 94"/>
          <p:cNvSpPr/>
          <p:nvPr/>
        </p:nvSpPr>
        <p:spPr>
          <a:xfrm>
            <a:off x="8321040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21040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9E1B32"/>
          </a:solidFill>
          <a:ln/>
        </p:spPr>
      </p:sp>
      <p:sp>
        <p:nvSpPr>
          <p:cNvPr id="98" name="Shape 96"/>
          <p:cNvSpPr/>
          <p:nvPr/>
        </p:nvSpPr>
        <p:spPr>
          <a:xfrm>
            <a:off x="8321040" y="3136392"/>
            <a:ext cx="1298448" cy="10058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9" name="Text 97"/>
          <p:cNvSpPr/>
          <p:nvPr/>
        </p:nvSpPr>
        <p:spPr>
          <a:xfrm>
            <a:off x="8357616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Rodaje</a:t>
            </a:r>
            <a:endParaRPr lang="en-US" sz="730" dirty="0"/>
          </a:p>
        </p:txBody>
      </p:sp>
      <p:sp>
        <p:nvSpPr>
          <p:cNvPr id="100" name="Text 98"/>
          <p:cNvSpPr/>
          <p:nvPr/>
        </p:nvSpPr>
        <p:spPr>
          <a:xfrm>
            <a:off x="8357616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10   Dur 6   EF 16</a:t>
            </a:r>
            <a:endParaRPr lang="en-US" sz="730" dirty="0"/>
          </a:p>
        </p:txBody>
      </p:sp>
      <p:sp>
        <p:nvSpPr>
          <p:cNvPr id="101" name="Text 99"/>
          <p:cNvSpPr/>
          <p:nvPr/>
        </p:nvSpPr>
        <p:spPr>
          <a:xfrm>
            <a:off x="8357616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10   Holg 0   LF 16</a:t>
            </a:r>
            <a:endParaRPr lang="en-US" sz="730" dirty="0"/>
          </a:p>
        </p:txBody>
      </p:sp>
      <p:sp>
        <p:nvSpPr>
          <p:cNvPr id="102" name="Shape 100"/>
          <p:cNvSpPr/>
          <p:nvPr/>
        </p:nvSpPr>
        <p:spPr>
          <a:xfrm>
            <a:off x="9893808" y="3035808"/>
            <a:ext cx="12984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93808" y="3035808"/>
            <a:ext cx="1298448" cy="201168"/>
          </a:xfrm>
          <a:prstGeom prst="roundRect">
            <a:avLst>
              <a:gd name="adj" fmla="val 22727"/>
            </a:avLst>
          </a:prstGeom>
          <a:solidFill>
            <a:srgbClr val="9E1B3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893808" y="3136392"/>
            <a:ext cx="1298448" cy="10058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5" name="Text 103"/>
          <p:cNvSpPr/>
          <p:nvPr/>
        </p:nvSpPr>
        <p:spPr>
          <a:xfrm>
            <a:off x="9930384" y="303580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· Resguardo y entrega</a:t>
            </a:r>
            <a:endParaRPr lang="en-US" sz="730" dirty="0"/>
          </a:p>
        </p:txBody>
      </p:sp>
      <p:sp>
        <p:nvSpPr>
          <p:cNvPr id="106" name="Text 104"/>
          <p:cNvSpPr/>
          <p:nvPr/>
        </p:nvSpPr>
        <p:spPr>
          <a:xfrm>
            <a:off x="9930384" y="325526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16   Dur 0   EF 16</a:t>
            </a:r>
            <a:endParaRPr lang="en-US" sz="730" dirty="0"/>
          </a:p>
        </p:txBody>
      </p:sp>
      <p:sp>
        <p:nvSpPr>
          <p:cNvPr id="107" name="Text 105"/>
          <p:cNvSpPr/>
          <p:nvPr/>
        </p:nvSpPr>
        <p:spPr>
          <a:xfrm>
            <a:off x="9930384" y="343814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16   Holg 0   LF 16</a:t>
            </a:r>
            <a:endParaRPr lang="en-US" sz="730" dirty="0"/>
          </a:p>
        </p:txBody>
      </p:sp>
      <p:sp>
        <p:nvSpPr>
          <p:cNvPr id="108" name="Shape 106"/>
          <p:cNvSpPr/>
          <p:nvPr/>
        </p:nvSpPr>
        <p:spPr>
          <a:xfrm>
            <a:off x="8503920" y="1234440"/>
            <a:ext cx="256032" cy="1463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1B3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23960" y="1170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crítico (holgura = 0)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503920" y="1481328"/>
            <a:ext cx="256032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6C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2396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 crítica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57200" y="4892040"/>
            <a:ext cx="11292840" cy="685800"/>
          </a:xfrm>
          <a:prstGeom prst="roundRect">
            <a:avLst>
              <a:gd name="adj" fmla="val 10667"/>
            </a:avLst>
          </a:prstGeom>
          <a:solidFill>
            <a:srgbClr val="FCEBEC"/>
          </a:solidFill>
          <a:ln w="12700">
            <a:solidFill>
              <a:srgbClr val="9E1B3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5800" y="4892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crítico: C → D → E → N → O  (3 + 6 + 1 + 6 + 0 = 16 semanas)  ·  Duración total del proyecto: 16 semanas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casting (perfiles → audición → contratación) es el cuello de botella real, no la locación ni los materiales (4 y 1 semana de holgura respectivamente).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Diagrama de Red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CRONOGRAMA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Gantt (sin costos)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63240" y="12984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desde el inicio del proyecto (inicio: lunes 5-ene-2026)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063240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05072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2192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46904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88736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30568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0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714232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56064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597896" y="1819656"/>
            <a:ext cx="0" cy="4014216"/>
          </a:xfrm>
          <a:prstGeom prst="line">
            <a:avLst/>
          </a:prstGeom>
          <a:noFill/>
          <a:ln w="9525">
            <a:solidFill>
              <a:srgbClr val="E9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15016" y="16002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874520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874520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1874520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locación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63240" y="1915668"/>
            <a:ext cx="1883664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36038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2136038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de locación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46904" y="2177186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397557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397557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" y="2397557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actores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63240" y="2438705"/>
            <a:ext cx="1412748" cy="179222"/>
          </a:xfrm>
          <a:prstGeom prst="roundRect">
            <a:avLst>
              <a:gd name="adj" fmla="val 15306"/>
            </a:avLst>
          </a:prstGeom>
          <a:solidFill>
            <a:srgbClr val="9E1B3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659075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" y="2659075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Audición de actores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75988" y="2700223"/>
            <a:ext cx="2825496" cy="179222"/>
          </a:xfrm>
          <a:prstGeom prst="roundRect">
            <a:avLst>
              <a:gd name="adj" fmla="val 15306"/>
            </a:avLst>
          </a:prstGeom>
          <a:solidFill>
            <a:srgbClr val="9E1B32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2920594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920594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" y="2920594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 de actores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01484" y="2961742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182112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" y="3182112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recursos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63240" y="3223260"/>
            <a:ext cx="941832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43630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443630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4672" y="3443630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proveedores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05072" y="3484778"/>
            <a:ext cx="1883664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705149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4672" y="3705149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88736" y="3746297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" y="3966667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3966667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4672" y="3966667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 de proveedores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59652" y="4007815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228186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" y="4228186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y disposición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30568" y="4269334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58" name="Shape 56"/>
          <p:cNvSpPr/>
          <p:nvPr/>
        </p:nvSpPr>
        <p:spPr>
          <a:xfrm>
            <a:off x="457200" y="4489704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489704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04672" y="4489704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 catering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063240" y="4530852"/>
            <a:ext cx="1412748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751222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4672" y="4751222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catering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475988" y="4792370"/>
            <a:ext cx="941832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5012741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5012741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04672" y="5012741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Contratación de catering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17820" y="5053889"/>
            <a:ext cx="470916" cy="179222"/>
          </a:xfrm>
          <a:prstGeom prst="roundRect">
            <a:avLst>
              <a:gd name="adj" fmla="val 15306"/>
            </a:avLst>
          </a:prstGeom>
          <a:solidFill>
            <a:srgbClr val="8B879B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5274259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04672" y="5274259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Rodaje (filmación)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772400" y="5315407"/>
            <a:ext cx="2825496" cy="179222"/>
          </a:xfrm>
          <a:prstGeom prst="roundRect">
            <a:avLst>
              <a:gd name="adj" fmla="val 15306"/>
            </a:avLst>
          </a:prstGeom>
          <a:solidFill>
            <a:srgbClr val="9E1B32"/>
          </a:solidFill>
          <a:ln/>
        </p:spPr>
      </p:sp>
      <p:sp>
        <p:nvSpPr>
          <p:cNvPr id="72" name="Shape 70"/>
          <p:cNvSpPr/>
          <p:nvPr/>
        </p:nvSpPr>
        <p:spPr>
          <a:xfrm>
            <a:off x="457200" y="5535778"/>
            <a:ext cx="10140696" cy="261518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5535778"/>
            <a:ext cx="32004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04672" y="5535778"/>
            <a:ext cx="2167128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Resguardo y entrega (hito)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0524744" y="5593385"/>
            <a:ext cx="146304" cy="146304"/>
          </a:xfrm>
          <a:prstGeom prst="diamond">
            <a:avLst/>
          </a:prstGeom>
          <a:solidFill>
            <a:srgbClr val="9E1B32"/>
          </a:solidFill>
          <a:ln/>
        </p:spPr>
      </p:sp>
      <p:sp>
        <p:nvSpPr>
          <p:cNvPr id="76" name="Shape 74"/>
          <p:cNvSpPr/>
          <p:nvPr/>
        </p:nvSpPr>
        <p:spPr>
          <a:xfrm>
            <a:off x="10597896" y="1819656"/>
            <a:ext cx="0" cy="4014216"/>
          </a:xfrm>
          <a:prstGeom prst="line">
            <a:avLst/>
          </a:prstGeom>
          <a:noFill/>
          <a:ln w="12700">
            <a:solidFill>
              <a:srgbClr val="9E1B32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9774936" y="5852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Fin: 27-abr-2026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6208776"/>
            <a:ext cx="274320" cy="146304"/>
          </a:xfrm>
          <a:prstGeom prst="roundRect">
            <a:avLst>
              <a:gd name="adj" fmla="val 18750"/>
            </a:avLst>
          </a:prstGeom>
          <a:solidFill>
            <a:srgbClr val="9E1B32"/>
          </a:solidFill>
          <a:ln/>
        </p:spPr>
      </p:sp>
      <p:sp>
        <p:nvSpPr>
          <p:cNvPr id="79" name="Text 77"/>
          <p:cNvSpPr/>
          <p:nvPr/>
        </p:nvSpPr>
        <p:spPr>
          <a:xfrm>
            <a:off x="777240" y="61539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crítica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377440" y="6208776"/>
            <a:ext cx="274320" cy="146304"/>
          </a:xfrm>
          <a:prstGeom prst="roundRect">
            <a:avLst>
              <a:gd name="adj" fmla="val 18750"/>
            </a:avLst>
          </a:prstGeom>
          <a:solidFill>
            <a:srgbClr val="8B879B"/>
          </a:solidFill>
          <a:ln/>
        </p:spPr>
      </p:sp>
      <p:sp>
        <p:nvSpPr>
          <p:cNvPr id="81" name="Text 79"/>
          <p:cNvSpPr/>
          <p:nvPr/>
        </p:nvSpPr>
        <p:spPr>
          <a:xfrm>
            <a:off x="2697480" y="6153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 crítica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892040" y="6208776"/>
            <a:ext cx="146304" cy="146304"/>
          </a:xfrm>
          <a:prstGeom prst="diamond">
            <a:avLst/>
          </a:prstGeom>
          <a:solidFill>
            <a:srgbClr val="9E1B32"/>
          </a:solidFill>
          <a:ln/>
        </p:spPr>
      </p:sp>
      <p:sp>
        <p:nvSpPr>
          <p:cNvPr id="83" name="Text 81"/>
          <p:cNvSpPr/>
          <p:nvPr/>
        </p:nvSpPr>
        <p:spPr>
          <a:xfrm>
            <a:off x="5120640" y="6153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Gantt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" name="Shape 1"/>
          <p:cNvSpPr/>
          <p:nvPr/>
        </p:nvSpPr>
        <p:spPr>
          <a:xfrm>
            <a:off x="62330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9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9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6" name="Shape 4"/>
          <p:cNvSpPr/>
          <p:nvPr/>
        </p:nvSpPr>
        <p:spPr>
          <a:xfrm>
            <a:off x="217774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7" name="Shape 5"/>
          <p:cNvSpPr/>
          <p:nvPr/>
        </p:nvSpPr>
        <p:spPr>
          <a:xfrm>
            <a:off x="269589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8" name="Shape 6"/>
          <p:cNvSpPr/>
          <p:nvPr/>
        </p:nvSpPr>
        <p:spPr>
          <a:xfrm>
            <a:off x="3214036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9" name="Shape 7"/>
          <p:cNvSpPr/>
          <p:nvPr/>
        </p:nvSpPr>
        <p:spPr>
          <a:xfrm>
            <a:off x="373218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033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6847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2" name="Shape 10"/>
          <p:cNvSpPr/>
          <p:nvPr/>
        </p:nvSpPr>
        <p:spPr>
          <a:xfrm>
            <a:off x="5286623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477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291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4106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9210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735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9550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365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1797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4994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809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86238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04384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22531" y="256032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7" name="Shape 25"/>
          <p:cNvSpPr/>
          <p:nvPr/>
        </p:nvSpPr>
        <p:spPr>
          <a:xfrm>
            <a:off x="62330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1449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9" name="Shape 27"/>
          <p:cNvSpPr/>
          <p:nvPr/>
        </p:nvSpPr>
        <p:spPr>
          <a:xfrm>
            <a:off x="165959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774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589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14036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3" name="Shape 31"/>
          <p:cNvSpPr/>
          <p:nvPr/>
        </p:nvSpPr>
        <p:spPr>
          <a:xfrm>
            <a:off x="373218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4" name="Shape 32"/>
          <p:cNvSpPr/>
          <p:nvPr/>
        </p:nvSpPr>
        <p:spPr>
          <a:xfrm>
            <a:off x="425033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5" name="Shape 33"/>
          <p:cNvSpPr/>
          <p:nvPr/>
        </p:nvSpPr>
        <p:spPr>
          <a:xfrm>
            <a:off x="476847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6" name="Shape 34"/>
          <p:cNvSpPr/>
          <p:nvPr/>
        </p:nvSpPr>
        <p:spPr>
          <a:xfrm>
            <a:off x="5286623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7" name="Shape 35"/>
          <p:cNvSpPr/>
          <p:nvPr/>
        </p:nvSpPr>
        <p:spPr>
          <a:xfrm>
            <a:off x="580477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291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106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0" name="Shape 38"/>
          <p:cNvSpPr/>
          <p:nvPr/>
        </p:nvSpPr>
        <p:spPr>
          <a:xfrm>
            <a:off x="7359210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1" name="Shape 39"/>
          <p:cNvSpPr/>
          <p:nvPr/>
        </p:nvSpPr>
        <p:spPr>
          <a:xfrm>
            <a:off x="787735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9550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3" name="Shape 41"/>
          <p:cNvSpPr/>
          <p:nvPr/>
        </p:nvSpPr>
        <p:spPr>
          <a:xfrm>
            <a:off x="891365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4" name="Shape 42"/>
          <p:cNvSpPr/>
          <p:nvPr/>
        </p:nvSpPr>
        <p:spPr>
          <a:xfrm>
            <a:off x="9431797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5" name="Shape 43"/>
          <p:cNvSpPr/>
          <p:nvPr/>
        </p:nvSpPr>
        <p:spPr>
          <a:xfrm>
            <a:off x="994994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6809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86238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04384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22531" y="6446520"/>
            <a:ext cx="64008" cy="6400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 este ejercicio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502920" y="1691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600" dirty="0"/>
          </a:p>
        </p:txBody>
      </p:sp>
      <p:sp>
        <p:nvSpPr>
          <p:cNvPr id="53" name="Text 51"/>
          <p:cNvSpPr/>
          <p:nvPr/>
        </p:nvSpPr>
        <p:spPr>
          <a:xfrm>
            <a:off x="50292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duración total del proyecto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160520" y="1691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55" name="Text 53"/>
          <p:cNvSpPr/>
          <p:nvPr/>
        </p:nvSpPr>
        <p:spPr>
          <a:xfrm>
            <a:off x="416052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conforman el camino crítico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818120" y="1691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57" name="Text 55"/>
          <p:cNvSpPr/>
          <p:nvPr/>
        </p:nvSpPr>
        <p:spPr>
          <a:xfrm>
            <a:off x="781812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holgura en la ruta crítica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02920" y="3383280"/>
            <a:ext cx="10332720" cy="0"/>
          </a:xfrm>
          <a:prstGeom prst="line">
            <a:avLst/>
          </a:prstGeom>
          <a:noFill/>
          <a:ln w="12700">
            <a:solidFill>
              <a:srgbClr val="3A37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pendiente para la próxima clase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0292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2960" y="4023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Costeo de cada actividad y armado del Gantt de costos.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292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2960" y="4434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Costos y presupuesto a presentar al cliente.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02920" y="4846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2960" y="4846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valor ganado (EVM) al cierre de la semana 5 y decisiones del PM.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02920" y="548640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232130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54864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practicar: videojuego "Un Corto en Cannes" — armá la lista de actividades, el diagrama de red y el Gantt de forma interactiva.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Síntesis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33953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Corto en Cannes — Gerenciamiento de Proyectos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2026-09-05T13:47:48Z</dcterms:created>
  <dcterms:modified xsi:type="dcterms:W3CDTF">2026-09-05T13:47:48Z</dcterms:modified>
</cp:coreProperties>
</file>